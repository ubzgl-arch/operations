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4A89"/>
                </a:solidFill>
              </a:defRPr>
            </a:pPr>
            <a:r>
              <a:t>EAI 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organisational structure mapped to strategic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846320" cy="457200"/>
          </a:xfrm>
          <a:prstGeom prst="roundRect">
            <a:avLst/>
          </a:prstGeom>
          <a:solidFill>
            <a:srgbClr val="154A89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005840"/>
            <a:ext cx="6217920" cy="457200"/>
          </a:xfrm>
          <a:prstGeom prst="roundRect">
            <a:avLst/>
          </a:prstGeom>
          <a:solidFill>
            <a:srgbClr val="154A89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48463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Build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554480"/>
            <a:ext cx="6217920" cy="594360"/>
          </a:xfrm>
          <a:prstGeom prst="roundRect">
            <a:avLst/>
          </a:prstGeom>
          <a:solidFill>
            <a:srgbClr val="E3EE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Integration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48463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Environment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67712"/>
            <a:ext cx="6217920" cy="594360"/>
          </a:xfrm>
          <a:prstGeom prst="roundRect">
            <a:avLst/>
          </a:prstGeom>
          <a:solidFill>
            <a:srgbClr val="E3EE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Platform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80944"/>
            <a:ext cx="48463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Production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980944"/>
            <a:ext cx="6217920" cy="594360"/>
          </a:xfrm>
          <a:prstGeom prst="roundRect">
            <a:avLst/>
          </a:prstGeom>
          <a:solidFill>
            <a:srgbClr val="E3EE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Platform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94176"/>
            <a:ext cx="48463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694176"/>
            <a:ext cx="6217920" cy="594360"/>
          </a:xfrm>
          <a:prstGeom prst="roundRect">
            <a:avLst/>
          </a:prstGeom>
          <a:solidFill>
            <a:srgbClr val="E3EE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Platform Portfolio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4A89"/>
                </a:solidFill>
              </a:defRPr>
            </a:pPr>
            <a:r>
              <a:t>EAI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Five enduring functions that define what Enterprise Application Integration (EAI) owns.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 dirty="0">
                <a:solidFill>
                  <a:schemeClr val="tx1"/>
                </a:solidFill>
              </a:rPr>
              <a:t>Enterprise Integration Service Delivery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Deliver secure, scalable and governed integration services across the enterprise.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38528"/>
            <a:ext cx="112471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Platform Engineering &amp; Lifecycle Management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Maintain, modernise and optimise the EAI platform and supporting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79776"/>
            <a:ext cx="112471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Platform Operations &amp; Reliability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Ensure platform availability, monitoring, incident response and operational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21024"/>
            <a:ext cx="112471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Platform Portfolio Management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Manage investment, roadmap, financial planning, prioritisation and vendor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62272"/>
            <a:ext cx="112471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154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rPr>
                <a:solidFill>
                  <a:schemeClr val="tx1"/>
                </a:solidFill>
              </a:rPr>
              <a:t>Integration Architecture, Governance &amp; Technical Assurance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Define standards, architecture, technical governance and design assurance.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C3866"/>
                </a:solidFill>
              </a:defRPr>
            </a:pPr>
            <a:r>
              <a:t>Enterprise Application Integration (EAI) Capability Operating Framework</a:t>
            </a:r>
          </a:p>
          <a:p>
            <a:pPr algn="ctr">
              <a:defRPr sz="1100"/>
            </a:pPr>
            <a:r>
              <a:t>Delivering secure, reliable and modern enterprise integration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13232"/>
            <a:ext cx="11612880" cy="713232"/>
          </a:xfrm>
          <a:prstGeom prst="roundRect">
            <a:avLst/>
          </a:prstGeom>
          <a:solidFill>
            <a:srgbClr val="E4EE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3866"/>
                </a:solidFill>
              </a:defRPr>
            </a:pPr>
            <a:r>
              <a:t>Platform Ownership &amp; Accountability (Director EAI)</a:t>
            </a:r>
            <a:br/>
            <a:r>
              <a:t>Strategy • Roadmap • Investment • Financial Management • Risk • Vendor Management • Workforce Planning • Executive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72768"/>
            <a:ext cx="3383280" cy="4023360"/>
          </a:xfrm>
          <a:prstGeom prst="roundRect">
            <a:avLst/>
          </a:prstGeom>
          <a:solidFill>
            <a:srgbClr val="FCFDFE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94760" y="1572768"/>
            <a:ext cx="2743200" cy="4023360"/>
          </a:xfrm>
          <a:prstGeom prst="roundRect">
            <a:avLst/>
          </a:prstGeom>
          <a:solidFill>
            <a:srgbClr val="FCFDFE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20840" y="1572768"/>
            <a:ext cx="5166360" cy="4023360"/>
          </a:xfrm>
          <a:prstGeom prst="roundRect">
            <a:avLst/>
          </a:prstGeom>
          <a:solidFill>
            <a:srgbClr val="FCFDFE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3154680" cy="384048"/>
          </a:xfrm>
          <a:prstGeom prst="roundRect">
            <a:avLst/>
          </a:prstGeom>
          <a:solidFill>
            <a:srgbClr val="215FA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WHAT WE 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3632" y="1664208"/>
            <a:ext cx="2514600" cy="384048"/>
          </a:xfrm>
          <a:prstGeom prst="roundRect">
            <a:avLst/>
          </a:prstGeom>
          <a:solidFill>
            <a:srgbClr val="215FA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HOW WE ORGANISE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664208"/>
            <a:ext cx="4937760" cy="384048"/>
          </a:xfrm>
          <a:prstGeom prst="roundRect">
            <a:avLst/>
          </a:prstGeom>
          <a:solidFill>
            <a:srgbClr val="215FA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HOW WE DELIVER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2926080" cy="475488"/>
          </a:xfrm>
          <a:prstGeom prst="roundRect">
            <a:avLst/>
          </a:prstGeom>
          <a:solidFill>
            <a:srgbClr val="F8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Enterprise Integration</a:t>
            </a:r>
            <a:br/>
            <a:r>
              <a:t>Service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24912"/>
            <a:ext cx="2926080" cy="475488"/>
          </a:xfrm>
          <a:prstGeom prst="roundRect">
            <a:avLst/>
          </a:prstGeom>
          <a:solidFill>
            <a:srgbClr val="F8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Platform Engineering &amp;</a:t>
            </a:r>
            <a:br/>
            <a:r>
              <a:t>Lifecycle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73552"/>
            <a:ext cx="2926080" cy="475488"/>
          </a:xfrm>
          <a:prstGeom prst="roundRect">
            <a:avLst/>
          </a:prstGeom>
          <a:solidFill>
            <a:srgbClr val="F8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Platform Operations &amp;</a:t>
            </a:r>
            <a:br/>
            <a:r>
              <a:t>Reliability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22191"/>
            <a:ext cx="2926080" cy="475488"/>
          </a:xfrm>
          <a:prstGeom prst="roundRect">
            <a:avLst/>
          </a:prstGeom>
          <a:solidFill>
            <a:srgbClr val="F8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Platform Portfolio</a:t>
            </a:r>
            <a:br/>
            <a:r>
              <a:t>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70831"/>
            <a:ext cx="2926080" cy="475488"/>
          </a:xfrm>
          <a:prstGeom prst="roundRect">
            <a:avLst/>
          </a:prstGeom>
          <a:solidFill>
            <a:srgbClr val="F8F9F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E1E1E"/>
                </a:solidFill>
              </a:defRPr>
            </a:pPr>
            <a:r>
              <a:t>Integration Architecture,</a:t>
            </a:r>
            <a:br/>
            <a:r>
              <a:t>Governance &amp; Technical Assurance</a:t>
            </a:r>
          </a:p>
        </p:txBody>
      </p:sp>
      <p:sp>
        <p:nvSpPr>
          <p:cNvPr id="15" name="Oval 14"/>
          <p:cNvSpPr/>
          <p:nvPr/>
        </p:nvSpPr>
        <p:spPr>
          <a:xfrm>
            <a:off x="3913632" y="2350008"/>
            <a:ext cx="201168" cy="201168"/>
          </a:xfrm>
          <a:prstGeom prst="ellipse">
            <a:avLst/>
          </a:prstGeom>
          <a:solidFill>
            <a:srgbClr val="215FAA"/>
          </a:solidFill>
          <a:ln>
            <a:solidFill>
              <a:srgbClr val="21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60520" y="2240280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Build &amp; Design</a:t>
            </a:r>
            <a:br/>
            <a:r>
              <a:t>Integration Engineering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3008376"/>
            <a:ext cx="201168" cy="201168"/>
          </a:xfrm>
          <a:prstGeom prst="ellipse">
            <a:avLst/>
          </a:prstGeom>
          <a:solidFill>
            <a:srgbClr val="215FAA"/>
          </a:solidFill>
          <a:ln>
            <a:solidFill>
              <a:srgbClr val="21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60520" y="2898648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Environment Management</a:t>
            </a:r>
            <a:br/>
            <a:r>
              <a:t>Platform Engineering</a:t>
            </a:r>
          </a:p>
        </p:txBody>
      </p:sp>
      <p:sp>
        <p:nvSpPr>
          <p:cNvPr id="19" name="Oval 18"/>
          <p:cNvSpPr/>
          <p:nvPr/>
        </p:nvSpPr>
        <p:spPr>
          <a:xfrm>
            <a:off x="3913632" y="3666744"/>
            <a:ext cx="201168" cy="201168"/>
          </a:xfrm>
          <a:prstGeom prst="ellipse">
            <a:avLst/>
          </a:prstGeom>
          <a:solidFill>
            <a:srgbClr val="215FAA"/>
          </a:solidFill>
          <a:ln>
            <a:solidFill>
              <a:srgbClr val="21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60520" y="3557015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Production Support</a:t>
            </a:r>
            <a:br/>
            <a:r>
              <a:t>Platform Operations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3913632" y="4325112"/>
            <a:ext cx="201168" cy="201168"/>
          </a:xfrm>
          <a:prstGeom prst="ellipse">
            <a:avLst/>
          </a:prstGeom>
          <a:solidFill>
            <a:srgbClr val="215FAA"/>
          </a:solidFill>
          <a:ln>
            <a:solidFill>
              <a:srgbClr val="21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60520" y="4215383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E1E1E"/>
                </a:solidFill>
              </a:defRPr>
            </a:pPr>
            <a:r>
              <a:t>PMO</a:t>
            </a:r>
            <a:br/>
            <a:r>
              <a:t>Platform Portfolio Management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0" y="2414016"/>
            <a:ext cx="777240" cy="77724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83280" y="2962656"/>
            <a:ext cx="777240" cy="187452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83280" y="3511296"/>
            <a:ext cx="777240" cy="297179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83280" y="4059935"/>
            <a:ext cx="777240" cy="406908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Demand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Assess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06640" y="2889504"/>
            <a:ext cx="45720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01000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Design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80" y="2889504"/>
            <a:ext cx="45720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49640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03920" y="2889504"/>
            <a:ext cx="45720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98280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Git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52560" y="2889504"/>
            <a:ext cx="45720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646919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CI/CD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01200" y="2889504"/>
            <a:ext cx="45719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95559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Deploy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49839" y="2889504"/>
            <a:ext cx="45720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744199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Operate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698479" y="2889504"/>
            <a:ext cx="45720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1292839" y="2606040"/>
            <a:ext cx="502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Improve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247119" y="2889504"/>
            <a:ext cx="45720" cy="0"/>
          </a:xfrm>
          <a:prstGeom prst="line">
            <a:avLst/>
          </a:prstGeom>
          <a:ln>
            <a:solidFill>
              <a:srgbClr val="215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74320" y="5650992"/>
            <a:ext cx="11612880" cy="438912"/>
          </a:xfrm>
          <a:prstGeom prst="roundRect">
            <a:avLst/>
          </a:prstGeom>
          <a:solidFill>
            <a:srgbClr val="E1F1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C3866"/>
                </a:solidFill>
              </a:defRPr>
            </a:pPr>
            <a:r>
              <a:t>Shared DIIP Services  •  ABDO  •  Governance Change &amp; Release  •  Systems Team  •  Release Train  •  Pipeline &amp; Planning  •  Delivery Governance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6144768"/>
            <a:ext cx="11612880" cy="502920"/>
          </a:xfrm>
          <a:prstGeom prst="roundRect">
            <a:avLst/>
          </a:prstGeom>
          <a:solidFill>
            <a:srgbClr val="FFF3D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3866"/>
                </a:solidFill>
              </a:defRPr>
            </a:pPr>
            <a:r>
              <a:t>Business Outcomes  •  Secure Enterprise Integration  •  Platform Reliability  •  Modernisation  •  Faster Delivery  •  Operational Excellence  •  End-to-End Business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4F8DB2-47C0-6EA2-DB7E-B2649C105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8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294</Words>
  <Application>Microsoft Office PowerPoint</Application>
  <PresentationFormat>Widescreen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Prakash Jaghamani</cp:lastModifiedBy>
  <cp:revision>2</cp:revision>
  <dcterms:created xsi:type="dcterms:W3CDTF">2013-01-27T09:14:16Z</dcterms:created>
  <dcterms:modified xsi:type="dcterms:W3CDTF">2026-07-29T14:22:02Z</dcterms:modified>
  <cp:category/>
</cp:coreProperties>
</file>